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F00"/>
    <a:srgbClr val="6B168D"/>
    <a:srgbClr val="A32C91"/>
    <a:srgbClr val="741185"/>
    <a:srgbClr val="4A06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4A0658"/>
            </a:gs>
            <a:gs pos="40000">
              <a:srgbClr val="741185"/>
            </a:gs>
            <a:gs pos="69000">
              <a:srgbClr val="A32C91"/>
            </a:gs>
            <a:gs pos="100000">
              <a:srgbClr val="6B168D"/>
            </a:gs>
          </a:gsLst>
          <a:lin ang="27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8371" y="2509580"/>
            <a:ext cx="7927258" cy="1610136"/>
          </a:xfrm>
        </p:spPr>
        <p:txBody>
          <a:bodyPr>
            <a:normAutofit/>
          </a:bodyPr>
          <a:lstStyle/>
          <a:p>
            <a:r>
              <a:rPr dirty="0" err="1">
                <a:solidFill>
                  <a:srgbClr val="FF6F00"/>
                </a:solidFill>
                <a:latin typeface="Calibri"/>
              </a:rPr>
              <a:t>Foodify</a:t>
            </a:r>
            <a:r>
              <a:rPr dirty="0">
                <a:solidFill>
                  <a:srgbClr val="FF6F00"/>
                </a:solidFill>
                <a:latin typeface="Calibri"/>
              </a:rPr>
              <a:t> – Online </a:t>
            </a:r>
            <a:r>
              <a:rPr dirty="0" err="1">
                <a:solidFill>
                  <a:srgbClr val="FF6F00"/>
                </a:solidFill>
                <a:latin typeface="Calibri"/>
              </a:rPr>
              <a:t>ételrendelő</a:t>
            </a:r>
            <a:r>
              <a:rPr dirty="0">
                <a:solidFill>
                  <a:srgbClr val="FF6F00"/>
                </a:solidFill>
                <a:latin typeface="Calibri"/>
              </a:rPr>
              <a:t> platform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5406" y="4660489"/>
            <a:ext cx="7443020" cy="1376517"/>
          </a:xfrm>
        </p:spPr>
        <p:txBody>
          <a:bodyPr>
            <a:noAutofit/>
          </a:bodyPr>
          <a:lstStyle/>
          <a:p>
            <a:r>
              <a:rPr sz="2000" dirty="0" err="1">
                <a:solidFill>
                  <a:schemeClr val="bg1"/>
                </a:solidFill>
                <a:latin typeface="Calibri"/>
              </a:rPr>
              <a:t>Készítették</a:t>
            </a:r>
            <a:r>
              <a:rPr sz="2000" dirty="0">
                <a:solidFill>
                  <a:schemeClr val="bg1"/>
                </a:solidFill>
                <a:latin typeface="Calibri"/>
              </a:rPr>
              <a:t>: Molnár Erik, Tüske Adrián Dominik, Zima Zalán</a:t>
            </a:r>
            <a:br>
              <a:rPr lang="hu-HU" sz="2400" dirty="0">
                <a:solidFill>
                  <a:schemeClr val="bg1"/>
                </a:solidFill>
                <a:latin typeface="Calibri"/>
              </a:rPr>
            </a:br>
            <a:endParaRPr sz="2400" dirty="0">
              <a:solidFill>
                <a:schemeClr val="bg1"/>
              </a:solidFill>
              <a:latin typeface="Calibri"/>
            </a:endParaRPr>
          </a:p>
          <a:p>
            <a:r>
              <a:rPr sz="2000" dirty="0" err="1">
                <a:solidFill>
                  <a:schemeClr val="bg1"/>
                </a:solidFill>
                <a:latin typeface="Calibri"/>
              </a:rPr>
              <a:t>Miskolci</a:t>
            </a:r>
            <a:r>
              <a:rPr sz="2000" dirty="0">
                <a:solidFill>
                  <a:schemeClr val="bg1"/>
                </a:solidFill>
                <a:latin typeface="Calibri"/>
              </a:rPr>
              <a:t> SZC Kandó Kálmán </a:t>
            </a:r>
            <a:r>
              <a:rPr sz="2000" dirty="0" err="1">
                <a:solidFill>
                  <a:schemeClr val="bg1"/>
                </a:solidFill>
                <a:latin typeface="Calibri"/>
              </a:rPr>
              <a:t>Informatikai</a:t>
            </a:r>
            <a:r>
              <a:rPr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sz="2000" dirty="0" err="1">
                <a:solidFill>
                  <a:schemeClr val="bg1"/>
                </a:solidFill>
                <a:latin typeface="Calibri"/>
              </a:rPr>
              <a:t>Technikum</a:t>
            </a:r>
            <a:r>
              <a:rPr sz="2000" dirty="0">
                <a:solidFill>
                  <a:schemeClr val="bg1"/>
                </a:solidFill>
                <a:latin typeface="Calibri"/>
              </a:rPr>
              <a:t>, 2025</a:t>
            </a:r>
          </a:p>
        </p:txBody>
      </p:sp>
      <p:pic>
        <p:nvPicPr>
          <p:cNvPr id="4" name="Picture 3" descr="foodify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5100" y="650875"/>
            <a:ext cx="1193800" cy="1193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 err="1">
                <a:solidFill>
                  <a:srgbClr val="FF6F00"/>
                </a:solidFill>
                <a:latin typeface="Calibri"/>
              </a:rPr>
              <a:t>Célkitűzés</a:t>
            </a:r>
            <a:r>
              <a:rPr sz="3600" b="1" dirty="0">
                <a:solidFill>
                  <a:srgbClr val="FF6F00"/>
                </a:solidFill>
                <a:latin typeface="Calibri"/>
              </a:rPr>
              <a:t> </a:t>
            </a:r>
            <a:r>
              <a:rPr sz="3600" b="1" dirty="0" err="1">
                <a:solidFill>
                  <a:srgbClr val="FF6F00"/>
                </a:solidFill>
                <a:latin typeface="Calibri"/>
              </a:rPr>
              <a:t>és</a:t>
            </a:r>
            <a:r>
              <a:rPr sz="3600" b="1" dirty="0">
                <a:solidFill>
                  <a:srgbClr val="FF6F00"/>
                </a:solidFill>
                <a:latin typeface="Calibri"/>
              </a:rPr>
              <a:t> </a:t>
            </a:r>
            <a:r>
              <a:rPr sz="3600" b="1" dirty="0" err="1">
                <a:solidFill>
                  <a:srgbClr val="FF6F00"/>
                </a:solidFill>
                <a:latin typeface="Calibri"/>
              </a:rPr>
              <a:t>probléma</a:t>
            </a:r>
            <a:endParaRPr sz="3600" b="1" dirty="0">
              <a:solidFill>
                <a:srgbClr val="FF6F00"/>
              </a:solidFill>
              <a:latin typeface="Calibri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861187"/>
            <a:ext cx="8229600" cy="3264976"/>
          </a:xfrm>
        </p:spPr>
        <p:txBody>
          <a:bodyPr>
            <a:normAutofit/>
          </a:bodyPr>
          <a:lstStyle/>
          <a:p>
            <a:r>
              <a:rPr sz="2400" dirty="0" err="1">
                <a:solidFill>
                  <a:schemeClr val="bg1"/>
                </a:solidFill>
                <a:latin typeface="Calibri"/>
              </a:rPr>
              <a:t>Egyszerű</a:t>
            </a:r>
            <a:r>
              <a:rPr sz="2400" dirty="0">
                <a:solidFill>
                  <a:schemeClr val="bg1"/>
                </a:solidFill>
                <a:latin typeface="Calibri"/>
              </a:rPr>
              <a:t>,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gyors</a:t>
            </a:r>
            <a:r>
              <a:rPr sz="2400" dirty="0">
                <a:solidFill>
                  <a:schemeClr val="bg1"/>
                </a:solidFill>
                <a:latin typeface="Calibri"/>
              </a:rPr>
              <a:t>,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felhasználóbarát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ételrendelő</a:t>
            </a:r>
            <a:r>
              <a:rPr sz="2400" dirty="0">
                <a:solidFill>
                  <a:schemeClr val="bg1"/>
                </a:solidFill>
                <a:latin typeface="Calibri"/>
              </a:rPr>
              <a:t> platform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fejlesztése</a:t>
            </a:r>
            <a:endParaRPr sz="2400" dirty="0">
              <a:solidFill>
                <a:schemeClr val="bg1"/>
              </a:solidFill>
              <a:latin typeface="Calibri"/>
            </a:endParaRPr>
          </a:p>
          <a:p>
            <a:r>
              <a:rPr sz="2400" dirty="0">
                <a:solidFill>
                  <a:schemeClr val="bg1"/>
                </a:solidFill>
                <a:latin typeface="Calibri"/>
              </a:rPr>
              <a:t>Támogatja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az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éttermek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szabad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csatlakozását</a:t>
            </a:r>
            <a:endParaRPr sz="2400" dirty="0">
              <a:solidFill>
                <a:schemeClr val="bg1"/>
              </a:solidFill>
              <a:latin typeface="Calibri"/>
            </a:endParaRPr>
          </a:p>
          <a:p>
            <a:r>
              <a:rPr sz="2400" dirty="0" err="1">
                <a:solidFill>
                  <a:schemeClr val="bg1"/>
                </a:solidFill>
                <a:latin typeface="Calibri"/>
              </a:rPr>
              <a:t>Átlátható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rendeléskezelés</a:t>
            </a:r>
            <a:r>
              <a:rPr sz="2400" dirty="0">
                <a:solidFill>
                  <a:schemeClr val="bg1"/>
                </a:solidFill>
                <a:latin typeface="Calibri"/>
              </a:rPr>
              <a:t>,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minimális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várakozási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idő</a:t>
            </a:r>
            <a:endParaRPr sz="2400" dirty="0">
              <a:solidFill>
                <a:schemeClr val="bg1"/>
              </a:solid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 err="1">
                <a:solidFill>
                  <a:srgbClr val="FF6F00"/>
                </a:solidFill>
                <a:latin typeface="Calibri"/>
              </a:rPr>
              <a:t>Technológiai</a:t>
            </a:r>
            <a:r>
              <a:rPr sz="3600" b="1" dirty="0">
                <a:solidFill>
                  <a:srgbClr val="FF6F00"/>
                </a:solidFill>
                <a:latin typeface="Calibri"/>
              </a:rPr>
              <a:t>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871019"/>
            <a:ext cx="8229600" cy="3255144"/>
          </a:xfrm>
        </p:spPr>
        <p:txBody>
          <a:bodyPr>
            <a:normAutofit/>
          </a:bodyPr>
          <a:lstStyle/>
          <a:p>
            <a:r>
              <a:rPr sz="2400" dirty="0">
                <a:solidFill>
                  <a:schemeClr val="bg1"/>
                </a:solidFill>
                <a:latin typeface="Calibri"/>
              </a:rPr>
              <a:t>Frontend: React, Bootstrap, HTML, CSS, JavaScript</a:t>
            </a:r>
          </a:p>
          <a:p>
            <a:r>
              <a:rPr sz="2400" dirty="0">
                <a:solidFill>
                  <a:schemeClr val="bg1"/>
                </a:solidFill>
                <a:latin typeface="Calibri"/>
              </a:rPr>
              <a:t>Backend: ASP.NET Core Web API, Entity Framework Core</a:t>
            </a:r>
          </a:p>
          <a:p>
            <a:r>
              <a:rPr sz="2400" dirty="0" err="1">
                <a:solidFill>
                  <a:schemeClr val="bg1"/>
                </a:solidFill>
                <a:latin typeface="Calibri"/>
              </a:rPr>
              <a:t>Adatbázis</a:t>
            </a:r>
            <a:r>
              <a:rPr sz="2400" dirty="0">
                <a:solidFill>
                  <a:schemeClr val="bg1"/>
                </a:solidFill>
                <a:latin typeface="Calibri"/>
              </a:rPr>
              <a:t>: MySQL, phpMyAdmin</a:t>
            </a:r>
          </a:p>
          <a:p>
            <a:r>
              <a:rPr sz="2400" dirty="0" err="1">
                <a:solidFill>
                  <a:schemeClr val="bg1"/>
                </a:solidFill>
                <a:latin typeface="Calibri"/>
              </a:rPr>
              <a:t>Eszközök</a:t>
            </a:r>
            <a:r>
              <a:rPr sz="2400" dirty="0">
                <a:solidFill>
                  <a:schemeClr val="bg1"/>
                </a:solidFill>
                <a:latin typeface="Calibri"/>
              </a:rPr>
              <a:t>: Visual Studio, VS Code, GitHub, XAMPP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F390962-7C0C-1E44-A01E-2723756AB1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070" y="5032084"/>
            <a:ext cx="719455" cy="719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F8B5F928-5F3C-2CF1-F79B-CD567EF6E84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0732" y="5032084"/>
            <a:ext cx="719455" cy="7791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 descr="React (JavaScript library) - Wikipedia">
            <a:extLst>
              <a:ext uri="{FF2B5EF4-FFF2-40B4-BE49-F238E27FC236}">
                <a16:creationId xmlns:a16="http://schemas.microsoft.com/office/drawing/2014/main" id="{E5519833-FA2C-1DBA-E599-9F733B09A6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3015" y="5094948"/>
            <a:ext cx="719455" cy="65341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1E7DE7DF-0205-886B-B470-80CAEBBF3B8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4145" y="5331805"/>
            <a:ext cx="1235710" cy="179705"/>
          </a:xfrm>
          <a:prstGeom prst="rect">
            <a:avLst/>
          </a:prstGeom>
          <a:noFill/>
        </p:spPr>
      </p:pic>
      <p:pic>
        <p:nvPicPr>
          <p:cNvPr id="13" name="Kép 12" descr="Is Entity Framework Core still the way to go for your data needs? -  OnMSFT.com">
            <a:extLst>
              <a:ext uri="{FF2B5EF4-FFF2-40B4-BE49-F238E27FC236}">
                <a16:creationId xmlns:a16="http://schemas.microsoft.com/office/drawing/2014/main" id="{76DD6B66-20BA-B14D-EDD9-1B537A9311E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0395" y="4990480"/>
            <a:ext cx="1103630" cy="8274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250"/>
                            </p:stCondLst>
                            <p:childTnLst>
                              <p:par>
                                <p:cTn id="2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 err="1">
                <a:solidFill>
                  <a:srgbClr val="FF6F00"/>
                </a:solidFill>
                <a:latin typeface="Calibri"/>
              </a:rPr>
              <a:t>Főbb</a:t>
            </a:r>
            <a:r>
              <a:rPr sz="3600" b="1" dirty="0">
                <a:solidFill>
                  <a:srgbClr val="FF6F00"/>
                </a:solidFill>
                <a:latin typeface="Calibri"/>
              </a:rPr>
              <a:t> </a:t>
            </a:r>
            <a:r>
              <a:rPr sz="3600" b="1" dirty="0" err="1">
                <a:solidFill>
                  <a:srgbClr val="FF6F00"/>
                </a:solidFill>
                <a:latin typeface="Calibri"/>
              </a:rPr>
              <a:t>funkciók</a:t>
            </a:r>
            <a:endParaRPr sz="3600" b="1" dirty="0">
              <a:solidFill>
                <a:srgbClr val="FF6F00"/>
              </a:solidFill>
              <a:latin typeface="Calibri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674374"/>
            <a:ext cx="8229600" cy="3451789"/>
          </a:xfrm>
        </p:spPr>
        <p:txBody>
          <a:bodyPr>
            <a:normAutofit/>
          </a:bodyPr>
          <a:lstStyle/>
          <a:p>
            <a:r>
              <a:rPr sz="2400" dirty="0" err="1">
                <a:solidFill>
                  <a:schemeClr val="bg1"/>
                </a:solidFill>
                <a:latin typeface="Calibri"/>
              </a:rPr>
              <a:t>Regisztráció</a:t>
            </a:r>
            <a:r>
              <a:rPr sz="2400" dirty="0">
                <a:solidFill>
                  <a:schemeClr val="bg1"/>
                </a:solidFill>
                <a:latin typeface="Calibri"/>
              </a:rPr>
              <a:t>,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bejelentkezés</a:t>
            </a:r>
            <a:r>
              <a:rPr sz="2400" dirty="0">
                <a:solidFill>
                  <a:schemeClr val="bg1"/>
                </a:solidFill>
                <a:latin typeface="Calibri"/>
              </a:rPr>
              <a:t>,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jelszó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visszaállítás</a:t>
            </a:r>
            <a:endParaRPr sz="2400" dirty="0">
              <a:solidFill>
                <a:schemeClr val="bg1"/>
              </a:solidFill>
              <a:latin typeface="Calibri"/>
            </a:endParaRPr>
          </a:p>
          <a:p>
            <a:r>
              <a:rPr sz="2400" dirty="0" err="1">
                <a:solidFill>
                  <a:schemeClr val="bg1"/>
                </a:solidFill>
                <a:latin typeface="Calibri"/>
              </a:rPr>
              <a:t>Éttermek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és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menük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megtekintése</a:t>
            </a:r>
            <a:r>
              <a:rPr sz="2400" dirty="0">
                <a:solidFill>
                  <a:schemeClr val="bg1"/>
                </a:solidFill>
                <a:latin typeface="Calibri"/>
              </a:rPr>
              <a:t>,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rendelés</a:t>
            </a:r>
            <a:endParaRPr sz="2400" dirty="0">
              <a:solidFill>
                <a:schemeClr val="bg1"/>
              </a:solidFill>
              <a:latin typeface="Calibri"/>
            </a:endParaRPr>
          </a:p>
          <a:p>
            <a:r>
              <a:rPr lang="hu-HU" sz="2400" dirty="0">
                <a:solidFill>
                  <a:schemeClr val="bg1"/>
                </a:solidFill>
                <a:latin typeface="Calibri"/>
              </a:rPr>
              <a:t>Kosár, rendelési összesítő, sikeres vásárlás visszajelzés</a:t>
            </a:r>
          </a:p>
          <a:p>
            <a:r>
              <a:rPr sz="2400" dirty="0" err="1">
                <a:solidFill>
                  <a:schemeClr val="bg1"/>
                </a:solidFill>
                <a:latin typeface="Calibri"/>
              </a:rPr>
              <a:t>Saját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fiók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kezelése</a:t>
            </a:r>
            <a:r>
              <a:rPr sz="2400" dirty="0">
                <a:solidFill>
                  <a:schemeClr val="bg1"/>
                </a:solidFill>
                <a:latin typeface="Calibri"/>
              </a:rPr>
              <a:t>,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szállítási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cím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módosítása</a:t>
            </a:r>
            <a:endParaRPr sz="2400" dirty="0">
              <a:solidFill>
                <a:schemeClr val="bg1"/>
              </a:solid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250"/>
                            </p:stCondLst>
                            <p:childTnLst>
                              <p:par>
                                <p:cTn id="2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 err="1">
                <a:solidFill>
                  <a:srgbClr val="FF6F00"/>
                </a:solidFill>
                <a:latin typeface="Calibri"/>
              </a:rPr>
              <a:t>Fejlesztési</a:t>
            </a:r>
            <a:r>
              <a:rPr sz="3600" b="1" dirty="0">
                <a:solidFill>
                  <a:srgbClr val="FF6F00"/>
                </a:solidFill>
                <a:latin typeface="Calibri"/>
              </a:rPr>
              <a:t> </a:t>
            </a:r>
            <a:r>
              <a:rPr sz="3600" b="1" dirty="0" err="1">
                <a:solidFill>
                  <a:srgbClr val="FF6F00"/>
                </a:solidFill>
                <a:latin typeface="Calibri"/>
              </a:rPr>
              <a:t>folyamat</a:t>
            </a:r>
            <a:endParaRPr sz="3600" b="1" dirty="0">
              <a:solidFill>
                <a:srgbClr val="FF6F00"/>
              </a:solidFill>
              <a:latin typeface="Calibri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802194"/>
            <a:ext cx="8229600" cy="3323969"/>
          </a:xfrm>
        </p:spPr>
        <p:txBody>
          <a:bodyPr>
            <a:normAutofit/>
          </a:bodyPr>
          <a:lstStyle/>
          <a:p>
            <a:r>
              <a:rPr lang="hu-HU" sz="2400" dirty="0" err="1">
                <a:solidFill>
                  <a:schemeClr val="bg1"/>
                </a:solidFill>
                <a:latin typeface="Calibri"/>
              </a:rPr>
              <a:t>Scrum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módszertan</a:t>
            </a:r>
            <a:endParaRPr sz="2400" dirty="0">
              <a:solidFill>
                <a:schemeClr val="bg1"/>
              </a:solidFill>
              <a:latin typeface="Calibri"/>
            </a:endParaRPr>
          </a:p>
          <a:p>
            <a:r>
              <a:rPr sz="2400" dirty="0">
                <a:solidFill>
                  <a:schemeClr val="bg1"/>
                </a:solidFill>
                <a:latin typeface="Calibri"/>
              </a:rPr>
              <a:t>Git + GitHub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verziókezelés</a:t>
            </a:r>
            <a:endParaRPr sz="2400" dirty="0">
              <a:solidFill>
                <a:schemeClr val="bg1"/>
              </a:solidFill>
              <a:latin typeface="Calibri"/>
            </a:endParaRPr>
          </a:p>
          <a:p>
            <a:r>
              <a:rPr sz="2400" dirty="0" err="1">
                <a:solidFill>
                  <a:schemeClr val="bg1"/>
                </a:solidFill>
                <a:latin typeface="Calibri"/>
              </a:rPr>
              <a:t>Fejlesztői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környezet</a:t>
            </a:r>
            <a:r>
              <a:rPr sz="2400" dirty="0">
                <a:solidFill>
                  <a:schemeClr val="bg1"/>
                </a:solidFill>
                <a:latin typeface="Calibri"/>
              </a:rPr>
              <a:t>: Visual Studio, VS Code</a:t>
            </a:r>
          </a:p>
          <a:p>
            <a:r>
              <a:rPr sz="2400" dirty="0">
                <a:solidFill>
                  <a:schemeClr val="bg1"/>
                </a:solidFill>
                <a:latin typeface="Calibri"/>
              </a:rPr>
              <a:t>GitHub-on</a:t>
            </a:r>
            <a:r>
              <a:rPr lang="hu-HU" sz="2400" dirty="0">
                <a:solidFill>
                  <a:schemeClr val="bg1"/>
                </a:solidFill>
                <a:latin typeface="Calibri"/>
              </a:rPr>
              <a:t> és </a:t>
            </a:r>
            <a:r>
              <a:rPr lang="hu-HU" sz="2400" dirty="0" err="1">
                <a:solidFill>
                  <a:schemeClr val="bg1"/>
                </a:solidFill>
                <a:latin typeface="Calibri"/>
              </a:rPr>
              <a:t>Trello</a:t>
            </a:r>
            <a:r>
              <a:rPr lang="hu-HU" sz="2400" dirty="0">
                <a:solidFill>
                  <a:schemeClr val="bg1"/>
                </a:solidFill>
                <a:latin typeface="Calibri"/>
              </a:rPr>
              <a:t>-n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keresztüli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együttműködés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és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feladatkezelés</a:t>
            </a:r>
            <a:endParaRPr sz="2400" dirty="0">
              <a:solidFill>
                <a:schemeClr val="bg1"/>
              </a:solidFill>
              <a:latin typeface="Calibri"/>
            </a:endParaRPr>
          </a:p>
        </p:txBody>
      </p:sp>
      <p:pic>
        <p:nvPicPr>
          <p:cNvPr id="4" name="Kép 3" descr="Visual Studio Code icon PNG and SVG Vector Free Download">
            <a:extLst>
              <a:ext uri="{FF2B5EF4-FFF2-40B4-BE49-F238E27FC236}">
                <a16:creationId xmlns:a16="http://schemas.microsoft.com/office/drawing/2014/main" id="{B9422BE8-30B9-3EFA-E412-8CDD15627CD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3753" y="5053456"/>
            <a:ext cx="721995" cy="719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Kép 4" descr="Visual Studio logo and symbol, meaning, history, PNG">
            <a:extLst>
              <a:ext uri="{FF2B5EF4-FFF2-40B4-BE49-F238E27FC236}">
                <a16:creationId xmlns:a16="http://schemas.microsoft.com/office/drawing/2014/main" id="{67D5F6AB-C7E9-38D3-3651-35B15A0FE4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5556" y="5053456"/>
            <a:ext cx="1279525" cy="7194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8802C5BE-484B-A4EE-51E8-95AEB7D8AF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4420" y="4872493"/>
            <a:ext cx="2674374" cy="108137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ED468522-860E-72F3-C74E-7FF752D7CB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7466" y="5001840"/>
            <a:ext cx="2674374" cy="82268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250"/>
                            </p:stCondLst>
                            <p:childTnLst>
                              <p:par>
                                <p:cTn id="2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 err="1">
                <a:solidFill>
                  <a:srgbClr val="FF6F00"/>
                </a:solidFill>
                <a:latin typeface="Calibri"/>
              </a:rPr>
              <a:t>Adatbázis</a:t>
            </a:r>
            <a:r>
              <a:rPr sz="3600" b="1" dirty="0">
                <a:solidFill>
                  <a:srgbClr val="FF6F00"/>
                </a:solidFill>
                <a:latin typeface="Calibri"/>
              </a:rPr>
              <a:t> </a:t>
            </a:r>
            <a:r>
              <a:rPr sz="3600" b="1" dirty="0" err="1">
                <a:solidFill>
                  <a:srgbClr val="FF6F00"/>
                </a:solidFill>
                <a:latin typeface="Calibri"/>
              </a:rPr>
              <a:t>és</a:t>
            </a:r>
            <a:r>
              <a:rPr sz="3600" b="1" dirty="0">
                <a:solidFill>
                  <a:srgbClr val="FF6F00"/>
                </a:solidFill>
                <a:latin typeface="Calibri"/>
              </a:rPr>
              <a:t> </a:t>
            </a:r>
            <a:r>
              <a:rPr sz="3600" b="1" dirty="0" err="1">
                <a:solidFill>
                  <a:srgbClr val="FF6F00"/>
                </a:solidFill>
                <a:latin typeface="Calibri"/>
              </a:rPr>
              <a:t>struktúra</a:t>
            </a:r>
            <a:endParaRPr sz="3600" b="1" dirty="0">
              <a:solidFill>
                <a:srgbClr val="FF6F00"/>
              </a:solidFill>
              <a:latin typeface="Calibri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841523"/>
            <a:ext cx="8229600" cy="3284640"/>
          </a:xfrm>
        </p:spPr>
        <p:txBody>
          <a:bodyPr>
            <a:normAutofit/>
          </a:bodyPr>
          <a:lstStyle/>
          <a:p>
            <a:r>
              <a:rPr sz="2400" dirty="0">
                <a:solidFill>
                  <a:schemeClr val="bg1"/>
                </a:solidFill>
                <a:latin typeface="Calibri"/>
              </a:rPr>
              <a:t>MySQL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alapú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relációs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adatbázis</a:t>
            </a:r>
            <a:endParaRPr sz="2400" dirty="0">
              <a:solidFill>
                <a:schemeClr val="bg1"/>
              </a:solidFill>
              <a:latin typeface="Calibri"/>
            </a:endParaRPr>
          </a:p>
          <a:p>
            <a:r>
              <a:rPr sz="2400" dirty="0">
                <a:solidFill>
                  <a:schemeClr val="bg1"/>
                </a:solidFill>
                <a:latin typeface="Calibri"/>
              </a:rPr>
              <a:t>phpMyAdmin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kezelőfelület</a:t>
            </a:r>
            <a:endParaRPr sz="2400" dirty="0">
              <a:solidFill>
                <a:schemeClr val="bg1"/>
              </a:solidFill>
              <a:latin typeface="Calibri"/>
            </a:endParaRPr>
          </a:p>
          <a:p>
            <a:r>
              <a:rPr sz="2400" dirty="0" err="1">
                <a:solidFill>
                  <a:schemeClr val="bg1"/>
                </a:solidFill>
                <a:latin typeface="Calibri"/>
              </a:rPr>
              <a:t>Felhasználói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fiókok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és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rendelések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kapcsolt</a:t>
            </a:r>
            <a:r>
              <a:rPr sz="2400" dirty="0">
                <a:solidFill>
                  <a:schemeClr val="bg1"/>
                </a:solidFill>
                <a:latin typeface="Calibri"/>
              </a:rPr>
              <a:t> </a:t>
            </a:r>
            <a:r>
              <a:rPr sz="2400" dirty="0" err="1">
                <a:solidFill>
                  <a:schemeClr val="bg1"/>
                </a:solidFill>
                <a:latin typeface="Calibri"/>
              </a:rPr>
              <a:t>tárolása</a:t>
            </a:r>
            <a:endParaRPr sz="2400" dirty="0">
              <a:solidFill>
                <a:schemeClr val="bg1"/>
              </a:solidFill>
              <a:latin typeface="Calibri"/>
            </a:endParaRPr>
          </a:p>
        </p:txBody>
      </p:sp>
      <p:pic>
        <p:nvPicPr>
          <p:cNvPr id="4" name="Kép 3" descr="MySQL Logo Vector (1) – Brands Logos">
            <a:extLst>
              <a:ext uri="{FF2B5EF4-FFF2-40B4-BE49-F238E27FC236}">
                <a16:creationId xmlns:a16="http://schemas.microsoft.com/office/drawing/2014/main" id="{3590BC74-73D9-47F9-A9D2-96AD7649A44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0258" y="4751163"/>
            <a:ext cx="1066448" cy="106644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67616060-E664-20A4-9D59-14483E7179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8845" y="4807320"/>
            <a:ext cx="941103" cy="954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0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 err="1">
                <a:solidFill>
                  <a:srgbClr val="FF6F00"/>
                </a:solidFill>
                <a:latin typeface="Calibri"/>
              </a:rPr>
              <a:t>Főoldal</a:t>
            </a:r>
            <a:endParaRPr sz="3600" b="1" dirty="0">
              <a:solidFill>
                <a:srgbClr val="FF6F00"/>
              </a:solidFill>
              <a:latin typeface="Calibri"/>
            </a:endParaRPr>
          </a:p>
        </p:txBody>
      </p:sp>
      <p:pic>
        <p:nvPicPr>
          <p:cNvPr id="3" name="Picture 2" descr="fool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163" y="1951703"/>
            <a:ext cx="8511674" cy="405580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 err="1">
                <a:solidFill>
                  <a:srgbClr val="FF6F00"/>
                </a:solidFill>
                <a:latin typeface="Calibri"/>
              </a:rPr>
              <a:t>Navigációs</a:t>
            </a:r>
            <a:r>
              <a:rPr sz="3600" b="1" dirty="0">
                <a:solidFill>
                  <a:srgbClr val="FF6F00"/>
                </a:solidFill>
                <a:latin typeface="Calibri"/>
              </a:rPr>
              <a:t> </a:t>
            </a:r>
            <a:r>
              <a:rPr sz="3600" b="1" dirty="0" err="1">
                <a:solidFill>
                  <a:srgbClr val="FF6F00"/>
                </a:solidFill>
                <a:latin typeface="Calibri"/>
              </a:rPr>
              <a:t>sáv</a:t>
            </a:r>
            <a:endParaRPr sz="3600" b="1" dirty="0">
              <a:solidFill>
                <a:srgbClr val="FF6F00"/>
              </a:solidFill>
              <a:latin typeface="Calibri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B8FA396B-7B83-F468-8939-ED33F6DDB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67" y="2906616"/>
            <a:ext cx="8858865" cy="10447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 err="1">
                <a:solidFill>
                  <a:srgbClr val="FF6F00"/>
                </a:solidFill>
                <a:latin typeface="Calibri"/>
              </a:rPr>
              <a:t>Bejelentkezés</a:t>
            </a:r>
            <a:endParaRPr sz="3600" b="1" dirty="0">
              <a:solidFill>
                <a:srgbClr val="FF6F00"/>
              </a:solidFill>
              <a:latin typeface="Calibri"/>
            </a:endParaRPr>
          </a:p>
        </p:txBody>
      </p:sp>
      <p:pic>
        <p:nvPicPr>
          <p:cNvPr id="3" name="Picture 2" descr="bejelentke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2826" y="1543825"/>
            <a:ext cx="5958348" cy="503953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 err="1">
                <a:solidFill>
                  <a:srgbClr val="FF6F00"/>
                </a:solidFill>
                <a:latin typeface="Calibri"/>
              </a:rPr>
              <a:t>Regisztráció</a:t>
            </a:r>
            <a:endParaRPr sz="3600" b="1" dirty="0">
              <a:solidFill>
                <a:srgbClr val="FF6F00"/>
              </a:solidFill>
              <a:latin typeface="Calibri"/>
            </a:endParaRPr>
          </a:p>
        </p:txBody>
      </p:sp>
      <p:pic>
        <p:nvPicPr>
          <p:cNvPr id="3" name="Picture 2" descr="regisztra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0676" y="1417763"/>
            <a:ext cx="3942648" cy="516559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 err="1">
                <a:solidFill>
                  <a:srgbClr val="FF6F00"/>
                </a:solidFill>
                <a:latin typeface="Calibri"/>
              </a:rPr>
              <a:t>Elfelejtett</a:t>
            </a:r>
            <a:r>
              <a:rPr sz="3600" b="1" dirty="0">
                <a:solidFill>
                  <a:srgbClr val="FF6F00"/>
                </a:solidFill>
                <a:latin typeface="Calibri"/>
              </a:rPr>
              <a:t> </a:t>
            </a:r>
            <a:r>
              <a:rPr sz="3600" b="1" dirty="0" err="1">
                <a:solidFill>
                  <a:srgbClr val="FF6F00"/>
                </a:solidFill>
                <a:latin typeface="Calibri"/>
              </a:rPr>
              <a:t>jelszó</a:t>
            </a:r>
            <a:endParaRPr sz="3600" b="1" dirty="0">
              <a:solidFill>
                <a:srgbClr val="FF6F00"/>
              </a:solidFill>
              <a:latin typeface="Calibri"/>
            </a:endParaRPr>
          </a:p>
        </p:txBody>
      </p:sp>
      <p:pic>
        <p:nvPicPr>
          <p:cNvPr id="3" name="Picture 2" descr="elfelejte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044" y="1535844"/>
            <a:ext cx="5933911" cy="504751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 err="1">
                <a:solidFill>
                  <a:srgbClr val="FF6F00"/>
                </a:solidFill>
                <a:latin typeface="Calibri"/>
              </a:rPr>
              <a:t>Saját</a:t>
            </a:r>
            <a:r>
              <a:rPr sz="3600" b="1" dirty="0">
                <a:solidFill>
                  <a:srgbClr val="FF6F00"/>
                </a:solidFill>
                <a:latin typeface="Calibri"/>
              </a:rPr>
              <a:t> </a:t>
            </a:r>
            <a:r>
              <a:rPr sz="3600" b="1" dirty="0" err="1">
                <a:solidFill>
                  <a:srgbClr val="FF6F00"/>
                </a:solidFill>
                <a:latin typeface="Calibri"/>
              </a:rPr>
              <a:t>fiók</a:t>
            </a:r>
            <a:endParaRPr sz="3600" b="1" dirty="0">
              <a:solidFill>
                <a:srgbClr val="FF6F00"/>
              </a:solidFill>
              <a:latin typeface="Calibri"/>
            </a:endParaRPr>
          </a:p>
        </p:txBody>
      </p:sp>
      <p:pic>
        <p:nvPicPr>
          <p:cNvPr id="3" name="Picture 2" descr="sajatfi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2502" y="1417637"/>
            <a:ext cx="2913833" cy="530709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 err="1">
                <a:solidFill>
                  <a:srgbClr val="FF6F00"/>
                </a:solidFill>
                <a:latin typeface="Calibri"/>
              </a:rPr>
              <a:t>Éttermek</a:t>
            </a:r>
            <a:r>
              <a:rPr sz="3600" b="1" dirty="0">
                <a:solidFill>
                  <a:srgbClr val="FF6F00"/>
                </a:solidFill>
                <a:latin typeface="Calibri"/>
              </a:rPr>
              <a:t> </a:t>
            </a:r>
            <a:r>
              <a:rPr sz="3600" b="1" dirty="0" err="1">
                <a:solidFill>
                  <a:srgbClr val="FF6F00"/>
                </a:solidFill>
                <a:latin typeface="Calibri"/>
              </a:rPr>
              <a:t>listázása</a:t>
            </a:r>
            <a:endParaRPr sz="3600" b="1" dirty="0">
              <a:solidFill>
                <a:srgbClr val="FF6F00"/>
              </a:solidFill>
              <a:latin typeface="Calibri"/>
            </a:endParaRPr>
          </a:p>
        </p:txBody>
      </p:sp>
      <p:pic>
        <p:nvPicPr>
          <p:cNvPr id="3" name="Picture 2" descr="osszesette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12" y="1902542"/>
            <a:ext cx="8880576" cy="42426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 err="1">
                <a:solidFill>
                  <a:srgbClr val="FF6F00"/>
                </a:solidFill>
                <a:latin typeface="Calibri"/>
              </a:rPr>
              <a:t>Rendelési</a:t>
            </a:r>
            <a:r>
              <a:rPr sz="3600" b="1" dirty="0">
                <a:solidFill>
                  <a:srgbClr val="FF6F00"/>
                </a:solidFill>
                <a:latin typeface="Calibri"/>
              </a:rPr>
              <a:t> </a:t>
            </a:r>
            <a:r>
              <a:rPr sz="3600" b="1" dirty="0" err="1">
                <a:solidFill>
                  <a:srgbClr val="FF6F00"/>
                </a:solidFill>
                <a:latin typeface="Calibri"/>
              </a:rPr>
              <a:t>felület</a:t>
            </a:r>
            <a:endParaRPr sz="3600" b="1" dirty="0">
              <a:solidFill>
                <a:srgbClr val="FF6F00"/>
              </a:solidFill>
              <a:latin typeface="Calibri"/>
            </a:endParaRPr>
          </a:p>
        </p:txBody>
      </p:sp>
      <p:pic>
        <p:nvPicPr>
          <p:cNvPr id="3" name="Picture 2" descr="rende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69" y="1761767"/>
            <a:ext cx="8896861" cy="423591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>
                <a:solidFill>
                  <a:srgbClr val="FF6F00"/>
                </a:solidFill>
                <a:latin typeface="Calibri"/>
              </a:rPr>
              <a:t>Kosár </a:t>
            </a:r>
            <a:r>
              <a:rPr sz="3600" b="1" dirty="0" err="1">
                <a:solidFill>
                  <a:srgbClr val="FF6F00"/>
                </a:solidFill>
                <a:latin typeface="Calibri"/>
              </a:rPr>
              <a:t>és</a:t>
            </a:r>
            <a:r>
              <a:rPr sz="3600" b="1" dirty="0">
                <a:solidFill>
                  <a:srgbClr val="FF6F00"/>
                </a:solidFill>
                <a:latin typeface="Calibri"/>
              </a:rPr>
              <a:t> </a:t>
            </a:r>
            <a:r>
              <a:rPr sz="3600" b="1" dirty="0" err="1">
                <a:solidFill>
                  <a:srgbClr val="FF6F00"/>
                </a:solidFill>
                <a:latin typeface="Calibri"/>
              </a:rPr>
              <a:t>összesítő</a:t>
            </a:r>
            <a:endParaRPr sz="3600" b="1" dirty="0">
              <a:solidFill>
                <a:srgbClr val="FF6F00"/>
              </a:solidFill>
              <a:latin typeface="Calibri"/>
            </a:endParaRPr>
          </a:p>
        </p:txBody>
      </p:sp>
      <p:pic>
        <p:nvPicPr>
          <p:cNvPr id="3" name="Picture 2" descr="kos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224" y="1691827"/>
            <a:ext cx="3679551" cy="489153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 err="1">
                <a:solidFill>
                  <a:srgbClr val="FF6F00"/>
                </a:solidFill>
                <a:latin typeface="Calibri"/>
              </a:rPr>
              <a:t>Sikeres</a:t>
            </a:r>
            <a:r>
              <a:rPr sz="3600" b="1" dirty="0">
                <a:solidFill>
                  <a:srgbClr val="FF6F00"/>
                </a:solidFill>
                <a:latin typeface="Calibri"/>
              </a:rPr>
              <a:t> </a:t>
            </a:r>
            <a:r>
              <a:rPr sz="3600" b="1" dirty="0" err="1">
                <a:solidFill>
                  <a:srgbClr val="FF6F00"/>
                </a:solidFill>
                <a:latin typeface="Calibri"/>
              </a:rPr>
              <a:t>rendelés</a:t>
            </a:r>
            <a:endParaRPr sz="3600" b="1" dirty="0">
              <a:solidFill>
                <a:srgbClr val="FF6F00"/>
              </a:solidFill>
              <a:latin typeface="Calibri"/>
            </a:endParaRPr>
          </a:p>
        </p:txBody>
      </p:sp>
      <p:pic>
        <p:nvPicPr>
          <p:cNvPr id="3" name="Picture 2" descr="sikeresrende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78077"/>
            <a:ext cx="7315200" cy="46114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sz="3600" b="1" dirty="0" err="1">
                <a:solidFill>
                  <a:srgbClr val="FF6F00"/>
                </a:solidFill>
              </a:rPr>
              <a:t>Összegzés</a:t>
            </a:r>
            <a:endParaRPr sz="3600" b="1" dirty="0">
              <a:solidFill>
                <a:srgbClr val="FF6F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0414"/>
            <a:ext cx="8229600" cy="3805750"/>
          </a:xfrm>
        </p:spPr>
        <p:txBody>
          <a:bodyPr/>
          <a:lstStyle/>
          <a:p>
            <a:pPr marL="0" indent="0">
              <a:buNone/>
            </a:pPr>
            <a:endParaRPr dirty="0">
              <a:solidFill>
                <a:schemeClr val="bg1"/>
              </a:solidFill>
            </a:endParaRPr>
          </a:p>
          <a:p>
            <a:r>
              <a:rPr sz="2400" dirty="0" err="1">
                <a:solidFill>
                  <a:schemeClr val="bg1"/>
                </a:solidFill>
              </a:rPr>
              <a:t>Felhasználóbarát</a:t>
            </a:r>
            <a:r>
              <a:rPr sz="2400" dirty="0">
                <a:solidFill>
                  <a:schemeClr val="bg1"/>
                </a:solidFill>
              </a:rPr>
              <a:t> </a:t>
            </a:r>
            <a:r>
              <a:rPr sz="2400" dirty="0" err="1">
                <a:solidFill>
                  <a:schemeClr val="bg1"/>
                </a:solidFill>
              </a:rPr>
              <a:t>felület</a:t>
            </a:r>
            <a:r>
              <a:rPr sz="2400" dirty="0">
                <a:solidFill>
                  <a:schemeClr val="bg1"/>
                </a:solidFill>
              </a:rPr>
              <a:t>, </a:t>
            </a:r>
            <a:r>
              <a:rPr sz="2400" dirty="0" err="1">
                <a:solidFill>
                  <a:schemeClr val="bg1"/>
                </a:solidFill>
              </a:rPr>
              <a:t>gyors</a:t>
            </a:r>
            <a:r>
              <a:rPr sz="2400" dirty="0">
                <a:solidFill>
                  <a:schemeClr val="bg1"/>
                </a:solidFill>
              </a:rPr>
              <a:t> </a:t>
            </a:r>
            <a:r>
              <a:rPr sz="2400" dirty="0" err="1">
                <a:solidFill>
                  <a:schemeClr val="bg1"/>
                </a:solidFill>
              </a:rPr>
              <a:t>rendelés</a:t>
            </a:r>
            <a:r>
              <a:rPr lang="hu-HU" sz="2400" dirty="0">
                <a:solidFill>
                  <a:schemeClr val="bg1"/>
                </a:solidFill>
              </a:rPr>
              <a:t>, reszponzív felület</a:t>
            </a:r>
            <a:endParaRPr sz="2400" dirty="0">
              <a:solidFill>
                <a:schemeClr val="bg1"/>
              </a:solidFill>
            </a:endParaRPr>
          </a:p>
          <a:p>
            <a:r>
              <a:rPr sz="2400" dirty="0">
                <a:solidFill>
                  <a:schemeClr val="bg1"/>
                </a:solidFill>
              </a:rPr>
              <a:t>Modern </a:t>
            </a:r>
            <a:r>
              <a:rPr sz="2400" dirty="0" err="1">
                <a:solidFill>
                  <a:schemeClr val="bg1"/>
                </a:solidFill>
              </a:rPr>
              <a:t>technológiai</a:t>
            </a:r>
            <a:r>
              <a:rPr sz="2400" dirty="0">
                <a:solidFill>
                  <a:schemeClr val="bg1"/>
                </a:solidFill>
              </a:rPr>
              <a:t> </a:t>
            </a:r>
            <a:r>
              <a:rPr sz="2400" dirty="0" err="1">
                <a:solidFill>
                  <a:schemeClr val="bg1"/>
                </a:solidFill>
              </a:rPr>
              <a:t>háttér</a:t>
            </a:r>
            <a:r>
              <a:rPr sz="2400" dirty="0">
                <a:solidFill>
                  <a:schemeClr val="bg1"/>
                </a:solidFill>
              </a:rPr>
              <a:t>: React, ASP.NET Core, MySQL</a:t>
            </a:r>
          </a:p>
          <a:p>
            <a:r>
              <a:rPr sz="2400" dirty="0" err="1">
                <a:solidFill>
                  <a:schemeClr val="bg1"/>
                </a:solidFill>
              </a:rPr>
              <a:t>Könnyen</a:t>
            </a:r>
            <a:r>
              <a:rPr sz="2400" dirty="0">
                <a:solidFill>
                  <a:schemeClr val="bg1"/>
                </a:solidFill>
              </a:rPr>
              <a:t> </a:t>
            </a:r>
            <a:r>
              <a:rPr sz="2400" dirty="0" err="1">
                <a:solidFill>
                  <a:schemeClr val="bg1"/>
                </a:solidFill>
              </a:rPr>
              <a:t>bővíthető</a:t>
            </a:r>
            <a:r>
              <a:rPr sz="2400" dirty="0">
                <a:solidFill>
                  <a:schemeClr val="bg1"/>
                </a:solidFill>
              </a:rPr>
              <a:t>, </a:t>
            </a:r>
            <a:r>
              <a:rPr sz="2400" dirty="0" err="1">
                <a:solidFill>
                  <a:schemeClr val="bg1"/>
                </a:solidFill>
              </a:rPr>
              <a:t>új</a:t>
            </a:r>
            <a:r>
              <a:rPr sz="2400" dirty="0">
                <a:solidFill>
                  <a:schemeClr val="bg1"/>
                </a:solidFill>
              </a:rPr>
              <a:t> </a:t>
            </a:r>
            <a:r>
              <a:rPr sz="2400" dirty="0" err="1">
                <a:solidFill>
                  <a:schemeClr val="bg1"/>
                </a:solidFill>
              </a:rPr>
              <a:t>éttermek</a:t>
            </a:r>
            <a:r>
              <a:rPr sz="2400" dirty="0">
                <a:solidFill>
                  <a:schemeClr val="bg1"/>
                </a:solidFill>
              </a:rPr>
              <a:t> </a:t>
            </a:r>
            <a:r>
              <a:rPr sz="2400" dirty="0" err="1">
                <a:solidFill>
                  <a:schemeClr val="bg1"/>
                </a:solidFill>
              </a:rPr>
              <a:t>integrálhatók</a:t>
            </a:r>
            <a:endParaRPr sz="2400" dirty="0">
              <a:solidFill>
                <a:schemeClr val="bg1"/>
              </a:solidFill>
            </a:endParaRPr>
          </a:p>
          <a:p>
            <a:r>
              <a:rPr sz="2400" dirty="0" err="1">
                <a:solidFill>
                  <a:schemeClr val="bg1"/>
                </a:solidFill>
              </a:rPr>
              <a:t>Csapatmunka</a:t>
            </a:r>
            <a:r>
              <a:rPr sz="2400" dirty="0">
                <a:solidFill>
                  <a:schemeClr val="bg1"/>
                </a:solidFill>
              </a:rPr>
              <a:t>, agilis </a:t>
            </a:r>
            <a:r>
              <a:rPr sz="2400" dirty="0" err="1">
                <a:solidFill>
                  <a:schemeClr val="bg1"/>
                </a:solidFill>
              </a:rPr>
              <a:t>fejlesztés</a:t>
            </a:r>
            <a:r>
              <a:rPr sz="2400" dirty="0">
                <a:solidFill>
                  <a:schemeClr val="bg1"/>
                </a:solidFill>
              </a:rPr>
              <a:t>, </a:t>
            </a:r>
            <a:r>
              <a:rPr sz="2400" dirty="0" err="1">
                <a:solidFill>
                  <a:schemeClr val="bg1"/>
                </a:solidFill>
              </a:rPr>
              <a:t>verziókezelés</a:t>
            </a:r>
            <a:r>
              <a:rPr sz="2400" dirty="0">
                <a:solidFill>
                  <a:schemeClr val="bg1"/>
                </a:solidFill>
              </a:rPr>
              <a:t> GitHub-on</a:t>
            </a:r>
          </a:p>
          <a:p>
            <a:r>
              <a:rPr sz="2400" dirty="0" err="1">
                <a:solidFill>
                  <a:schemeClr val="bg1"/>
                </a:solidFill>
              </a:rPr>
              <a:t>További</a:t>
            </a:r>
            <a:r>
              <a:rPr sz="2400" dirty="0">
                <a:solidFill>
                  <a:schemeClr val="bg1"/>
                </a:solidFill>
              </a:rPr>
              <a:t> </a:t>
            </a:r>
            <a:r>
              <a:rPr sz="2400" dirty="0" err="1">
                <a:solidFill>
                  <a:schemeClr val="bg1"/>
                </a:solidFill>
              </a:rPr>
              <a:t>fejlesztések</a:t>
            </a:r>
            <a:r>
              <a:rPr sz="2400" dirty="0">
                <a:solidFill>
                  <a:schemeClr val="bg1"/>
                </a:solidFill>
              </a:rPr>
              <a:t> a </a:t>
            </a:r>
            <a:r>
              <a:rPr sz="2400" dirty="0" err="1">
                <a:solidFill>
                  <a:schemeClr val="bg1"/>
                </a:solidFill>
              </a:rPr>
              <a:t>jövőben</a:t>
            </a:r>
            <a:r>
              <a:rPr lang="hu-HU" sz="2400" dirty="0">
                <a:solidFill>
                  <a:schemeClr val="bg1"/>
                </a:solidFill>
              </a:rPr>
              <a:t>:</a:t>
            </a:r>
            <a:r>
              <a:rPr sz="2400" dirty="0">
                <a:solidFill>
                  <a:schemeClr val="bg1"/>
                </a:solidFill>
              </a:rPr>
              <a:t> email</a:t>
            </a:r>
            <a:r>
              <a:rPr lang="hu-HU" sz="2400" dirty="0">
                <a:solidFill>
                  <a:schemeClr val="bg1"/>
                </a:solidFill>
              </a:rPr>
              <a:t> értesítés</a:t>
            </a:r>
            <a:r>
              <a:rPr sz="2400" dirty="0">
                <a:solidFill>
                  <a:schemeClr val="bg1"/>
                </a:solidFill>
              </a:rPr>
              <a:t>, </a:t>
            </a:r>
            <a:r>
              <a:rPr sz="2400" dirty="0" err="1">
                <a:solidFill>
                  <a:schemeClr val="bg1"/>
                </a:solidFill>
              </a:rPr>
              <a:t>előzmények</a:t>
            </a:r>
            <a:r>
              <a:rPr lang="hu-HU" sz="2400" dirty="0">
                <a:solidFill>
                  <a:schemeClr val="bg1"/>
                </a:solidFill>
              </a:rPr>
              <a:t> kezelése</a:t>
            </a:r>
            <a:r>
              <a:rPr sz="2400" dirty="0">
                <a:solidFill>
                  <a:schemeClr val="bg1"/>
                </a:solidFill>
              </a:rPr>
              <a:t>, </a:t>
            </a:r>
            <a:r>
              <a:rPr lang="hu-HU" sz="2400" dirty="0">
                <a:solidFill>
                  <a:schemeClr val="bg1"/>
                </a:solidFill>
              </a:rPr>
              <a:t>éttermek bővítése</a:t>
            </a:r>
            <a:endParaRPr sz="2400" dirty="0">
              <a:solidFill>
                <a:schemeClr val="bg1"/>
              </a:solidFill>
            </a:endParaRPr>
          </a:p>
        </p:txBody>
      </p:sp>
      <p:pic>
        <p:nvPicPr>
          <p:cNvPr id="4" name="Picture 3" descr="foodify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88938"/>
            <a:ext cx="914400" cy="914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50"/>
                            </p:stCondLst>
                            <p:childTnLst>
                              <p:par>
                                <p:cTn id="1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75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250"/>
                            </p:stCondLst>
                            <p:childTnLst>
                              <p:par>
                                <p:cTn id="2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000"/>
                            </p:stCondLst>
                            <p:childTnLst>
                              <p:par>
                                <p:cTn id="2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220</Words>
  <Application>Microsoft Office PowerPoint</Application>
  <PresentationFormat>Diavetítés a képernyőre (4:3 oldalarány)</PresentationFormat>
  <Paragraphs>43</Paragraphs>
  <Slides>17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Foodify – Online ételrendelő platform</vt:lpstr>
      <vt:lpstr>Célkitűzés és probléma</vt:lpstr>
      <vt:lpstr>Technológiai stack</vt:lpstr>
      <vt:lpstr>Főbb funkciók</vt:lpstr>
      <vt:lpstr>Fejlesztési folyamat</vt:lpstr>
      <vt:lpstr>Adatbázis és struktúra</vt:lpstr>
      <vt:lpstr>Főoldal</vt:lpstr>
      <vt:lpstr>Navigációs sáv</vt:lpstr>
      <vt:lpstr>Bejelentkezés</vt:lpstr>
      <vt:lpstr>Regisztráció</vt:lpstr>
      <vt:lpstr>Elfelejtett jelszó</vt:lpstr>
      <vt:lpstr>Saját fiók</vt:lpstr>
      <vt:lpstr>Éttermek listázása</vt:lpstr>
      <vt:lpstr>Rendelési felület</vt:lpstr>
      <vt:lpstr>Kosár és összesítő</vt:lpstr>
      <vt:lpstr>Sikeres rendelés</vt:lpstr>
      <vt:lpstr>Összegzés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Tüske Adrián Dominik</cp:lastModifiedBy>
  <cp:revision>5</cp:revision>
  <dcterms:created xsi:type="dcterms:W3CDTF">2013-01-27T09:14:16Z</dcterms:created>
  <dcterms:modified xsi:type="dcterms:W3CDTF">2025-04-09T08:53:54Z</dcterms:modified>
  <cp:category/>
</cp:coreProperties>
</file>